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07" r:id="rId6"/>
    <p:sldId id="310" r:id="rId7"/>
    <p:sldId id="309" r:id="rId8"/>
    <p:sldId id="311" r:id="rId9"/>
    <p:sldId id="318" r:id="rId10"/>
    <p:sldId id="319" r:id="rId11"/>
    <p:sldId id="320" r:id="rId12"/>
    <p:sldId id="321" r:id="rId13"/>
    <p:sldId id="32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5405" autoAdjust="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7/18/2026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7/18/2026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4D792B1F-855B-FC83-1023-94C0976E984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="" xmlns:a16="http://schemas.microsoft.com/office/drawing/2014/main" id="{EF359D7C-AC03-77FE-CA1D-B96B46B08D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C9AA487F-3729-4692-1A21-35558A2D84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="" xmlns:a16="http://schemas.microsoft.com/office/drawing/2014/main" id="{84B8E19A-569B-855B-EBF8-C02F2998AB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941984E2-3225-05D3-3A3D-9D5F5840ED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070813B7-403A-9A3E-5E5C-44C1680DE4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7A7BB3C1-4B05-D5B3-C61C-1CD390CEEF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="" xmlns:a16="http://schemas.microsoft.com/office/drawing/2014/main" id="{CE6955A7-F39A-1FBB-FF32-C6F0E32892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=""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5ED90D1-D640-D115-6711-35DE812FC0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F8D9EAE4-01F5-6C99-C91E-BF0FD0CD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=""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="" xmlns:a16="http://schemas.microsoft.com/office/drawing/2014/main" id="{D24A04BE-9BA3-80DD-EE68-A8B8BA0853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="" xmlns:a16="http://schemas.microsoft.com/office/drawing/2014/main" id="{9E4F6A04-3331-D4C7-3EAE-0F69B48A7C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0587ACFB-02E0-79F1-D5B0-E8B18598D6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98639877-C4A6-4E44-C600-FE3C6CD5F1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F0439AA5-A7EE-A20E-BB67-D356776D0B2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39E752F7-61F0-6779-9E8E-3541BFF7D2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6FD0E545-8D0D-B848-836A-23CEBCD6B0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="" xmlns:a16="http://schemas.microsoft.com/office/drawing/2014/main" id="{7114E853-6F7C-9899-77FD-0E77D0A862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="" xmlns:a16="http://schemas.microsoft.com/office/drawing/2014/main" id="{69002426-033B-400A-C519-AF4C659C4F0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=""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="" xmlns:a16="http://schemas.microsoft.com/office/drawing/2014/main" id="{90FA743D-BDB5-4069-7325-E91CA7BC3E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2FE03F25-D589-68A8-30C7-175547B6A9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7CB19B63-2AAF-E86D-D7F1-B659DB36B5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83712F38-4391-A499-56E2-8F095A50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=""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=""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="" xmlns:a16="http://schemas.microsoft.com/office/drawing/2014/main" id="{A3F1B258-8FBC-06A8-3A1F-466CEEDBBEF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8BAD4AF0-64CE-5C0E-5440-00F8FC6B31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7DCD020E-88CF-303D-F947-8EE980AC80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=""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EB31668E-263B-8FB1-9DBB-25F22BB441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0972DA96-A413-EF87-50D3-D8EF54FD9F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=""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=""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="" xmlns:a16="http://schemas.microsoft.com/office/drawing/2014/main" id="{4A781A8E-199F-1F48-C80E-B6501B5633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1C6679A-1B60-DCCD-7295-255649B92C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="" xmlns:a16="http://schemas.microsoft.com/office/drawing/2014/main" id="{1C466053-4CA7-4CBB-C1D2-19FE899BED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1100480F-88D3-CF82-FAF8-9527C86BCAE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=""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=""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B05A86D8-26B0-1ADB-0CE2-B445D2A286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="" xmlns:a16="http://schemas.microsoft.com/office/drawing/2014/main" id="{33A68E8B-64DF-46D3-2FA2-4BBBBF8BFB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=""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=""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CADEA8BB-3550-ABDA-99A6-455084D5D4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F0A8F0DB-3D3D-DC0F-84AC-4386B58AD6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=""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=""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=""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686C03E6-655F-A394-4461-7BC878C418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BF7A62BA-11D3-585A-8CBD-5E0FB4DE52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8E1AE81E-772F-B009-AF15-C0FC060518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=""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DCC72F6-C144-5508-40C5-E1B3FC085B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="" xmlns:a16="http://schemas.microsoft.com/office/drawing/2014/main" id="{FF76D2EA-2C6E-B0B2-DC0D-F9EF636E58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="" xmlns:a16="http://schemas.microsoft.com/office/drawing/2014/main" id="{90315871-F40F-D512-8E3F-B40F36BD422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10C11C1A-EFCF-278A-D083-93F07D4DEA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Deploy Java Spring Boot Microservices with Docker &amp; Docker </a:t>
            </a:r>
            <a: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Compose</a:t>
            </a:r>
            <a:b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SWATHI ROKKALA, 23221A05A2, BVC ENGINEERING COLLEGE, (Batch -1)</a:t>
            </a:r>
            <a:b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SHERU LALITHA SREE, 23221A05B1, BVC ENGINEERING COLLEGE, (Batch -1)</a:t>
            </a:r>
            <a:b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KUNCHANAPALLI JASHUVA, 23221A0493, BVC ENGINEERING COLLEGE, (Batch -1)</a:t>
            </a:r>
            <a:b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HIMA PRAVEENA PULLETIKURTHI, 23221A0594, BVC ENGINEERING COLLEGE, (Batch -1)</a:t>
            </a:r>
            <a:b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MAGAPU SANKEERTHANA, 23221A0572, BVC ENGINEERING COLLEGE, (Batch -1)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8" y="2154174"/>
            <a:ext cx="6477000" cy="3638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47387" y="1174099"/>
            <a:ext cx="360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 Black" panose="020B0A04020102020204" pitchFamily="34" charset="0"/>
              </a:rPr>
              <a:t>AGENDA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21500" y="636605"/>
            <a:ext cx="4237057" cy="5511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Introduction to the Solution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Why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Dockerize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cap="none" dirty="0" smtClean="0">
                <a:latin typeface="Arial" panose="020B0604020202020204" pitchFamily="34" charset="0"/>
              </a:rPr>
              <a:t>3.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Dockerizing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Ledger Service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Dockerizing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Transfer Service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Connecting the Services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Using Docker Compose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Scalability &amp; Future Improvements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Demo &amp; Wrap-Up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=""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8597"/>
            <a:ext cx="10360152" cy="836115"/>
          </a:xfrm>
        </p:spPr>
        <p:txBody>
          <a:bodyPr/>
          <a:lstStyle/>
          <a:p>
            <a:r>
              <a:rPr lang="en-US" dirty="0"/>
              <a:t>Why Dockerize Microservices?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1243584"/>
            <a:ext cx="10651958" cy="467258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Consistency: </a:t>
            </a:r>
            <a:endParaRPr lang="en-US" sz="2400" b="1" dirty="0" smtClean="0"/>
          </a:p>
          <a:p>
            <a:r>
              <a:rPr lang="en-US" sz="2400" b="1" dirty="0"/>
              <a:t> </a:t>
            </a:r>
            <a:r>
              <a:rPr lang="en-US" sz="2400" b="1" dirty="0" smtClean="0"/>
              <a:t>    </a:t>
            </a:r>
            <a:r>
              <a:rPr lang="en-US" sz="2400" dirty="0" smtClean="0"/>
              <a:t>Runs </a:t>
            </a:r>
            <a:r>
              <a:rPr lang="en-US" sz="2400" dirty="0"/>
              <a:t>the same everywhere (dev, test, prod)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Isolation</a:t>
            </a:r>
            <a:r>
              <a:rPr lang="en-US" sz="2400" b="1" dirty="0" smtClean="0"/>
              <a:t>:</a:t>
            </a:r>
          </a:p>
          <a:p>
            <a:r>
              <a:rPr lang="en-US" sz="2400" b="1" dirty="0" smtClean="0"/>
              <a:t>     </a:t>
            </a:r>
            <a:r>
              <a:rPr lang="en-US" sz="2400" dirty="0"/>
              <a:t>Each services packaged with its dependencies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Scalability: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</a:t>
            </a:r>
            <a:r>
              <a:rPr lang="en-US" sz="2400" dirty="0"/>
              <a:t>Scale services independently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Portability: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</a:t>
            </a:r>
            <a:r>
              <a:rPr lang="en-US" sz="2400" dirty="0" err="1" smtClean="0"/>
              <a:t>Depoly</a:t>
            </a:r>
            <a:r>
              <a:rPr lang="en-US" sz="2400" dirty="0" smtClean="0"/>
              <a:t> </a:t>
            </a:r>
            <a:r>
              <a:rPr lang="en-US" sz="2400" dirty="0"/>
              <a:t>on any cloud or on-prem server</a:t>
            </a:r>
            <a:endParaRPr lang="en-US" sz="2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76" y="196596"/>
            <a:ext cx="2971800" cy="657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=""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75488"/>
            <a:ext cx="7534656" cy="1088136"/>
          </a:xfrm>
        </p:spPr>
        <p:txBody>
          <a:bodyPr/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Introduction to the Solution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655064"/>
            <a:ext cx="10003536" cy="407822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Core Services</a:t>
            </a:r>
            <a:r>
              <a:rPr lang="en-US" sz="3200" b="1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Ledger Service: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Maintains account balances and logs transactions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Transfer Service: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Handles money transfers and communicates directly with the Ledger Service</a:t>
            </a:r>
            <a:r>
              <a:rPr lang="en-US" sz="2400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Technology:</a:t>
            </a:r>
            <a:endParaRPr lang="en-US" sz="2400" i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Built with Java 17 and Spring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Boot.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Designed using REST APIs for seamless inter-service communication</a:t>
            </a:r>
            <a:r>
              <a:rPr lang="en-US" sz="2400" dirty="0"/>
              <a:t>.  </a:t>
            </a:r>
            <a:endParaRPr lang="en-US" sz="2400" dirty="0" smtClean="0"/>
          </a:p>
          <a:p>
            <a:pPr>
              <a:lnSpc>
                <a:spcPct val="100000"/>
              </a:lnSpc>
            </a:pPr>
            <a:endParaRPr lang="en-US" sz="2400" i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22376"/>
            <a:ext cx="10341864" cy="676656"/>
          </a:xfrm>
        </p:spPr>
        <p:txBody>
          <a:bodyPr/>
          <a:lstStyle/>
          <a:p>
            <a:pPr algn="ctr"/>
            <a:r>
              <a:rPr lang="en-IN" sz="3600" b="1" dirty="0" err="1"/>
              <a:t>Dockerizing</a:t>
            </a:r>
            <a:r>
              <a:rPr lang="en-IN" sz="3600" b="1" dirty="0"/>
              <a:t> the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14400" y="1627632"/>
            <a:ext cx="4576953" cy="4288535"/>
          </a:xfrm>
        </p:spPr>
        <p:txBody>
          <a:bodyPr/>
          <a:lstStyle/>
          <a:p>
            <a:r>
              <a:rPr lang="en-IN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Dockerizing</a:t>
            </a:r>
            <a:r>
              <a:rPr lang="en-IN" i="1" u="sng" dirty="0">
                <a:latin typeface="Arial" panose="020B0604020202020204" pitchFamily="34" charset="0"/>
                <a:cs typeface="Arial" panose="020B0604020202020204" pitchFamily="34" charset="0"/>
              </a:rPr>
              <a:t> the Ledger Service</a:t>
            </a:r>
            <a:r>
              <a:rPr lang="en-IN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i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/>
              <a:t>Packages the foundational data layer</a:t>
            </a:r>
            <a:r>
              <a:rPr lang="en-US" sz="1800" dirty="0" smtClean="0"/>
              <a:t>.</a:t>
            </a:r>
          </a:p>
          <a:p>
            <a:endParaRPr lang="en-IN" sz="1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2434126"/>
            <a:ext cx="4607885" cy="4196183"/>
          </a:xfrm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 flipH="1">
            <a:off x="6078645" y="1517904"/>
            <a:ext cx="457200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Dockerizing</a:t>
            </a:r>
            <a:r>
              <a:rPr lang="en-IN" sz="2000" i="1" u="sng" dirty="0">
                <a:latin typeface="Arial" panose="020B0604020202020204" pitchFamily="34" charset="0"/>
                <a:cs typeface="Arial" panose="020B0604020202020204" pitchFamily="34" charset="0"/>
              </a:rPr>
              <a:t> the Transfer Service</a:t>
            </a:r>
            <a:r>
              <a:rPr lang="en-IN" sz="2000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Packages the operational engine layer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959" y="2434126"/>
            <a:ext cx="4585373" cy="419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7868D88A-97FE-C998-9C94-EA6885D1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649224"/>
          </a:xfrm>
        </p:spPr>
        <p:txBody>
          <a:bodyPr/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Connecting the services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="" xmlns:a16="http://schemas.microsoft.com/office/drawing/2014/main" id="{8BFFB45A-BA8E-C6EE-98C2-EEB82B378049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078546466"/>
              </p:ext>
            </p:extLst>
          </p:nvPr>
        </p:nvGraphicFramePr>
        <p:xfrm>
          <a:off x="914400" y="1563625"/>
          <a:ext cx="10360025" cy="4584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60025">
                  <a:extLst>
                    <a:ext uri="{9D8B030D-6E8A-4147-A177-3AD203B41FA5}">
                      <a16:colId xmlns="" xmlns:a16="http://schemas.microsoft.com/office/drawing/2014/main" val="478624482"/>
                    </a:ext>
                  </a:extLst>
                </a:gridCol>
              </a:tblGrid>
              <a:tr h="4584384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Courier New" panose="02070309020205020404" pitchFamily="49" charset="0"/>
                        <a:buNone/>
                      </a:pPr>
                      <a:r>
                        <a:rPr lang="en-IN" sz="2400" i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Localhost Problem: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default, the </a:t>
                      </a:r>
                      <a:r>
                        <a:rPr lang="en-US" sz="2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Transfer Service</a:t>
                      </a:r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uses: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</a:t>
                      </a:r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 </a:t>
                      </a:r>
                      <a:r>
                        <a:rPr lang="en-US" sz="2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baseUrl</a:t>
                      </a:r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"http://localhost:8081";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dirty="0" smtClean="0"/>
                        <a:t>Inside a Docker network, containers are isolated and do not share.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0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2400" i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Docker Solution: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Services communicate using dynamic container service names. 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Updated route: String </a:t>
                      </a:r>
                      <a:r>
                        <a:rPr lang="en-US" sz="2000" kern="1200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baseUrl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= "http://ledger-service:8081";</a:t>
                      </a:r>
                      <a:endParaRPr lang="en-US" sz="2400" i="1" u="sng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0" i="1" u="sng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9341255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C682696-3C34-3405-9621-5367E364D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79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346D86-EA68-76A3-64EA-FEF20ECA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6072"/>
            <a:ext cx="7534656" cy="941832"/>
          </a:xfrm>
        </p:spPr>
        <p:txBody>
          <a:bodyPr/>
          <a:lstStyle/>
          <a:p>
            <a:r>
              <a:rPr lang="en-US" sz="4000" b="1" i="1" dirty="0"/>
              <a:t>Using </a:t>
            </a:r>
            <a:r>
              <a:rPr lang="en-US" sz="4000" b="1" i="1" dirty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sz="4000" b="1" i="1" dirty="0"/>
              <a:t> Compose</a:t>
            </a:r>
            <a:endParaRPr lang="en-IN" sz="4000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9D0678D-3744-097C-1DE5-C7E98F710F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691640"/>
            <a:ext cx="8860536" cy="437083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Version:”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3.9”service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ledger-service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1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./ledger-service</a:t>
            </a:r>
          </a:p>
          <a:p>
            <a:pPr marL="0" indent="0" algn="just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container_name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ledger-service   </a:t>
            </a:r>
          </a:p>
          <a:p>
            <a:pPr marL="0" indent="0" algn="just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 ports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8081 :8081” 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Transfer service:</a:t>
            </a:r>
          </a:p>
          <a:p>
            <a:pPr marL="0" indent="0" algn="just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 build: ./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transfer-service  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container_name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transfer-service</a:t>
            </a:r>
          </a:p>
          <a:p>
            <a:pPr marL="0" indent="0" algn="just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 ports: ”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8080:8080”  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depends_on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ledger-service</a:t>
            </a:r>
          </a:p>
          <a:p>
            <a:pPr marL="0" indent="0" algn="just">
              <a:buNone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  environment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LEDGER_BASE_URL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http://ledger-service:8081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E8E9D1E-10CC-2991-A2D2-60110A6A9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890" y="1691640"/>
            <a:ext cx="6548566" cy="341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5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749808"/>
          </a:xfrm>
        </p:spPr>
        <p:txBody>
          <a:bodyPr/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Scalability &amp; </a:t>
            </a:r>
            <a:r>
              <a:rPr lang="en-IN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Future Improvements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1773936"/>
            <a:ext cx="1016812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Load Balancing: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Introduce an API Gateway to manage incoming traffic</a:t>
            </a:r>
            <a:r>
              <a:rPr lang="en-US" sz="2000" dirty="0" smtClean="0"/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/>
              <a:t>Database Integration:</a:t>
            </a:r>
            <a:r>
              <a:rPr lang="en-US" sz="2000" dirty="0"/>
              <a:t> Replace in-memory data structures with a persistent database like </a:t>
            </a:r>
            <a:r>
              <a:rPr lang="en-US" sz="2000" dirty="0" smtClean="0"/>
              <a:t>PostgreSQL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/>
              <a:t>Monitoring:</a:t>
            </a:r>
            <a:r>
              <a:rPr lang="en-US" sz="2000" dirty="0"/>
              <a:t> Add tools like Prometheus or </a:t>
            </a:r>
            <a:r>
              <a:rPr lang="en-US" sz="2000" dirty="0" err="1"/>
              <a:t>Grafana</a:t>
            </a:r>
            <a:r>
              <a:rPr lang="en-US" sz="2000" dirty="0"/>
              <a:t> to track container health</a:t>
            </a:r>
            <a:r>
              <a:rPr lang="en-US" sz="2000" dirty="0" smtClean="0"/>
              <a:t>.</a:t>
            </a: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175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676656"/>
          </a:xfrm>
        </p:spPr>
        <p:txBody>
          <a:bodyPr/>
          <a:lstStyle/>
          <a:p>
            <a:r>
              <a:rPr lang="en-IN" sz="4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Live </a:t>
            </a:r>
            <a:r>
              <a:rPr lang="en-IN" sz="4000" b="1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Demonstration</a:t>
            </a:r>
            <a:endParaRPr lang="en-IN" sz="4000" b="1" i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1768344"/>
            <a:ext cx="5029201" cy="4111460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100" y="1768344"/>
            <a:ext cx="4811451" cy="4148269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0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924" y="603504"/>
            <a:ext cx="10360152" cy="53400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6000" b="1" dirty="0" smtClean="0">
                <a:latin typeface="Arial Rounded MT Bold" panose="020F0704030504030204" pitchFamily="34" charset="0"/>
              </a:rPr>
              <a:t>Thank you</a:t>
            </a:r>
            <a:br>
              <a:rPr lang="en-US" sz="6000" b="1" dirty="0" smtClean="0">
                <a:latin typeface="Arial Rounded MT Bold" panose="020F0704030504030204" pitchFamily="34" charset="0"/>
              </a:rPr>
            </a:br>
            <a:r>
              <a:rPr lang="en-US" sz="6000" b="1" dirty="0" smtClean="0">
                <a:latin typeface="Arial Rounded MT Bold" panose="020F0704030504030204" pitchFamily="34" charset="0"/>
              </a:rPr>
              <a:t> </a:t>
            </a:r>
            <a:r>
              <a:rPr lang="en-US" sz="6000" b="1" dirty="0">
                <a:latin typeface="Arial Rounded MT Bold" panose="020F0704030504030204" pitchFamily="34" charset="0"/>
              </a:rPr>
              <a:t/>
            </a:r>
            <a:br>
              <a:rPr lang="en-US" sz="6000" b="1" dirty="0"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>SWATHI ROKKALA, 23221A05A2, BVC ENGINEERING COLLEGE, (Batch -1)</a:t>
            </a:r>
            <a:br>
              <a:rPr lang="en-US" sz="1800" dirty="0"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/>
            </a:r>
            <a:br>
              <a:rPr lang="en-US" sz="1800" dirty="0"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>SHERU LALITHA SREE, 23221A05B1, BVC ENGINEERING COLLEGE, (Batch -1)</a:t>
            </a:r>
            <a:br>
              <a:rPr lang="en-US" sz="1800" dirty="0"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/>
            </a:r>
            <a:br>
              <a:rPr lang="en-US" sz="1800" dirty="0"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>KUNCHANAPALLI JASHUVA, 23221A0493, BVC ENGINEERING COLLEGE, (Batch -1)</a:t>
            </a:r>
            <a:br>
              <a:rPr lang="en-US" sz="1800" dirty="0"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/>
            </a:r>
            <a:br>
              <a:rPr lang="en-US" sz="1800" dirty="0"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>HIMA PRAVEENA PULLETIKURTHI, 23221A0594, BVC ENGINEERING COLLEGE, (Batch -1)</a:t>
            </a:r>
            <a:br>
              <a:rPr lang="en-US" sz="1800" dirty="0"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/>
            </a:r>
            <a:br>
              <a:rPr lang="en-US" sz="1800" dirty="0"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>MAGAPU SANKEERTHANA, 23221A0572, BVC ENGINEERING COLLEGE, (Batch -1)</a:t>
            </a:r>
            <a:endParaRPr lang="en-IN" sz="1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39470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sharepoint/v3"/>
    <ds:schemaRef ds:uri="230e9df3-be65-4c73-a93b-d1236ebd677e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{96E23AE1-5243-462D-BA9C-239F0ABEF07B}TF1ed9553b-00c4-4092-846a-c8f7f2908f3beecd942f_win32-8e33096c3cfc</Template>
  <TotalTime>748</TotalTime>
  <Words>347</Words>
  <Application>Microsoft Office PowerPoint</Application>
  <PresentationFormat>Widescreen</PresentationFormat>
  <Paragraphs>77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Black</vt:lpstr>
      <vt:lpstr>Arial Rounded MT Bold</vt:lpstr>
      <vt:lpstr>Calibri</vt:lpstr>
      <vt:lpstr>Courier New</vt:lpstr>
      <vt:lpstr>Gill Sans Nova Light</vt:lpstr>
      <vt:lpstr>Sagona Book</vt:lpstr>
      <vt:lpstr>Wingdings</vt:lpstr>
      <vt:lpstr>Custom</vt:lpstr>
      <vt:lpstr>Deploy Java Spring Boot Microservices with Docker &amp; Docker Compose  SWATHI ROKKALA, 23221A05A2, BVC ENGINEERING COLLEGE, (Batch -1)  SHERU LALITHA SREE, 23221A05B1, BVC ENGINEERING COLLEGE, (Batch -1)  KUNCHANAPALLI JASHUVA, 23221A0493, BVC ENGINEERING COLLEGE, (Batch -1)  HIMA PRAVEENA PULLETIKURTHI, 23221A0594, BVC ENGINEERING COLLEGE, (Batch -1)  MAGAPU SANKEERTHANA, 23221A0572, BVC ENGINEERING COLLEGE, (Batch -1)</vt:lpstr>
      <vt:lpstr>PowerPoint Presentation</vt:lpstr>
      <vt:lpstr>Why Dockerize Microservices?</vt:lpstr>
      <vt:lpstr>Introduction to the Solution</vt:lpstr>
      <vt:lpstr>Dockerizing the Services</vt:lpstr>
      <vt:lpstr>Connecting the services</vt:lpstr>
      <vt:lpstr>Using Docker Compose</vt:lpstr>
      <vt:lpstr>Scalability &amp; Future Improvements</vt:lpstr>
      <vt:lpstr>Live Demonstration</vt:lpstr>
      <vt:lpstr>Thank you   SWATHI ROKKALA, 23221A05A2, BVC ENGINEERING COLLEGE, (Batch -1)  SHERU LALITHA SREE, 23221A05B1, BVC ENGINEERING COLLEGE, (Batch -1)  KUNCHANAPALLI JASHUVA, 23221A0493, BVC ENGINEERING COLLEGE, (Batch -1)  HIMA PRAVEENA PULLETIKURTHI, 23221A0594, BVC ENGINEERING COLLEGE, (Batch -1)  MAGAPU SANKEERTHANA, 23221A0572, BVC ENGINEERING COLLEGE, (Batch -1)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Java Spring Boot Microservices with Docker &amp; Docker Compose</dc:title>
  <dc:creator>keerthi</dc:creator>
  <cp:lastModifiedBy>Admin</cp:lastModifiedBy>
  <cp:revision>12</cp:revision>
  <dcterms:created xsi:type="dcterms:W3CDTF">2026-07-12T13:32:19Z</dcterms:created>
  <dcterms:modified xsi:type="dcterms:W3CDTF">2026-07-18T16:20:13Z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